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2F8AB-32D0-4C10-933E-B6C09F86883A}" v="14" dt="2026-09-03T09:09:50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vi Tikyani" userId="df6f27eea0fbf11a" providerId="LiveId" clId="{C6086824-FA09-4771-87C1-C9EECAC1EC90}"/>
    <pc:docChg chg="modSld">
      <pc:chgData name="Janvi Tikyani" userId="df6f27eea0fbf11a" providerId="LiveId" clId="{C6086824-FA09-4771-87C1-C9EECAC1EC90}" dt="2026-09-03T09:10:27.339" v="25"/>
      <pc:docMkLst>
        <pc:docMk/>
      </pc:docMkLst>
      <pc:sldChg chg="addSp delSp modSp mod modTransition">
        <pc:chgData name="Janvi Tikyani" userId="df6f27eea0fbf11a" providerId="LiveId" clId="{C6086824-FA09-4771-87C1-C9EECAC1EC90}" dt="2026-09-03T09:10:27.339" v="25"/>
        <pc:sldMkLst>
          <pc:docMk/>
          <pc:sldMk cId="0" sldId="256"/>
        </pc:sldMkLst>
        <pc:spChg chg="add del mod">
          <ac:chgData name="Janvi Tikyani" userId="df6f27eea0fbf11a" providerId="LiveId" clId="{C6086824-FA09-4771-87C1-C9EECAC1EC90}" dt="2026-09-03T09:10:27.339" v="25"/>
          <ac:spMkLst>
            <pc:docMk/>
            <pc:sldMk cId="0" sldId="256"/>
            <ac:spMk id="11" creationId="{BB49CA08-5E83-C8A7-58D4-AD37FE9F7EA8}"/>
          </ac:spMkLst>
        </pc:spChg>
      </pc:sldChg>
      <pc:sldChg chg="modTransition">
        <pc:chgData name="Janvi Tikyani" userId="df6f27eea0fbf11a" providerId="LiveId" clId="{C6086824-FA09-4771-87C1-C9EECAC1EC90}" dt="2026-09-03T07:58:24.748" v="4"/>
        <pc:sldMkLst>
          <pc:docMk/>
          <pc:sldMk cId="0" sldId="257"/>
        </pc:sldMkLst>
      </pc:sldChg>
      <pc:sldChg chg="modTransition">
        <pc:chgData name="Janvi Tikyani" userId="df6f27eea0fbf11a" providerId="LiveId" clId="{C6086824-FA09-4771-87C1-C9EECAC1EC90}" dt="2026-09-03T07:58:28.674" v="5"/>
        <pc:sldMkLst>
          <pc:docMk/>
          <pc:sldMk cId="0" sldId="258"/>
        </pc:sldMkLst>
      </pc:sldChg>
      <pc:sldChg chg="modTransition">
        <pc:chgData name="Janvi Tikyani" userId="df6f27eea0fbf11a" providerId="LiveId" clId="{C6086824-FA09-4771-87C1-C9EECAC1EC90}" dt="2026-09-03T07:58:36.135" v="6"/>
        <pc:sldMkLst>
          <pc:docMk/>
          <pc:sldMk cId="0" sldId="259"/>
        </pc:sldMkLst>
      </pc:sldChg>
      <pc:sldChg chg="modTransition">
        <pc:chgData name="Janvi Tikyani" userId="df6f27eea0fbf11a" providerId="LiveId" clId="{C6086824-FA09-4771-87C1-C9EECAC1EC90}" dt="2026-09-03T07:58:40.951" v="7"/>
        <pc:sldMkLst>
          <pc:docMk/>
          <pc:sldMk cId="0" sldId="260"/>
        </pc:sldMkLst>
      </pc:sldChg>
      <pc:sldChg chg="modSp mod modTransition">
        <pc:chgData name="Janvi Tikyani" userId="df6f27eea0fbf11a" providerId="LiveId" clId="{C6086824-FA09-4771-87C1-C9EECAC1EC90}" dt="2026-09-03T08:23:03.167" v="22" actId="20577"/>
        <pc:sldMkLst>
          <pc:docMk/>
          <pc:sldMk cId="0" sldId="261"/>
        </pc:sldMkLst>
        <pc:spChg chg="mod">
          <ac:chgData name="Janvi Tikyani" userId="df6f27eea0fbf11a" providerId="LiveId" clId="{C6086824-FA09-4771-87C1-C9EECAC1EC90}" dt="2026-09-03T08:23:03.167" v="22" actId="20577"/>
          <ac:spMkLst>
            <pc:docMk/>
            <pc:sldMk cId="0" sldId="261"/>
            <ac:spMk id="7" creationId="{00000000-0000-0000-0000-000000000000}"/>
          </ac:spMkLst>
        </pc:spChg>
      </pc:sldChg>
      <pc:sldChg chg="modTransition">
        <pc:chgData name="Janvi Tikyani" userId="df6f27eea0fbf11a" providerId="LiveId" clId="{C6086824-FA09-4771-87C1-C9EECAC1EC90}" dt="2026-09-03T07:58:51.002" v="9"/>
        <pc:sldMkLst>
          <pc:docMk/>
          <pc:sldMk cId="0" sldId="262"/>
        </pc:sldMkLst>
      </pc:sldChg>
      <pc:sldChg chg="modTransition">
        <pc:chgData name="Janvi Tikyani" userId="df6f27eea0fbf11a" providerId="LiveId" clId="{C6086824-FA09-4771-87C1-C9EECAC1EC90}" dt="2026-09-03T07:58:55.653" v="10"/>
        <pc:sldMkLst>
          <pc:docMk/>
          <pc:sldMk cId="0" sldId="264"/>
        </pc:sldMkLst>
      </pc:sldChg>
      <pc:sldChg chg="modTransition">
        <pc:chgData name="Janvi Tikyani" userId="df6f27eea0fbf11a" providerId="LiveId" clId="{C6086824-FA09-4771-87C1-C9EECAC1EC90}" dt="2026-09-03T07:59:00.340" v="11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98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20304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SiteVision AI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2521347"/>
            <a:ext cx="10752067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kern="0" spc="-4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Autonomous Construction Safety &amp; DLP Access Control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5022" y="4009926"/>
            <a:ext cx="11361652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PPE detection · Zero-tolerance DLP enforcement · OSHA-compliant audit reporting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9814" y="4568627"/>
            <a:ext cx="5178494" cy="805061"/>
          </a:xfrm>
          <a:prstGeom prst="roundRect">
            <a:avLst>
              <a:gd name="adj" fmla="val 301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35" y="4778276"/>
            <a:ext cx="202401" cy="161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6057" y="4740275"/>
            <a:ext cx="4490330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</a:t>
            </a:r>
            <a:r>
              <a:rPr lang="en-US" sz="12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YOLOv8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OpenCV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Google Gemini LLM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2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fpdf2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built for the modern construction site.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9737" y="4568627"/>
            <a:ext cx="5178494" cy="805061"/>
          </a:xfrm>
          <a:prstGeom prst="roundRect">
            <a:avLst>
              <a:gd name="adj" fmla="val 301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58" y="4778276"/>
            <a:ext cx="202401" cy="1619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25980" y="4740275"/>
            <a:ext cx="4490330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with a </a:t>
            </a:r>
            <a:r>
              <a:rPr lang="en-US" sz="12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dark developer theme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250" dirty="0">
                <a:solidFill>
                  <a:srgbClr val="06B6D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Cyan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250" dirty="0">
                <a:solidFill>
                  <a:srgbClr val="10B98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Green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250" dirty="0">
                <a:solidFill>
                  <a:srgbClr val="EF444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250" dirty="0">
                <a:solidFill>
                  <a:srgbClr val="F59E0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Amber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status indicators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3" name="click.wav"/>
          </p:stSnd>
        </p:sndAc>
      </p:transition>
    </mc:Choice>
    <mc:Fallback>
      <p:transition spd="med">
        <p:fade/>
        <p:sndAc>
          <p:stSnd>
            <p:snd r:embed="rId3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434703"/>
            <a:ext cx="1064094" cy="245963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6947" y="1483221"/>
            <a:ext cx="1479414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9814" y="1738908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Team &amp; Contributors</a:t>
            </a:r>
            <a:endParaRPr lang="en-US" sz="2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417564"/>
            <a:ext cx="3486857" cy="300563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1802" y="2558058"/>
            <a:ext cx="242881" cy="242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0784" y="3068241"/>
            <a:ext cx="312491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06B6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Lead Developer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00784" y="3385641"/>
            <a:ext cx="3124916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Computer Vision, AI Integration &amp; System Architecture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00784" y="3934817"/>
            <a:ext cx="3124916" cy="1307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YOLOv8 model training &amp; inference pipeline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OpenCV real-time frame processing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Gemini LLM integration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app framework &amp; DLP logic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419" y="2417564"/>
            <a:ext cx="3486857" cy="300563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4407" y="2558058"/>
            <a:ext cx="242881" cy="242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33390" y="3068241"/>
            <a:ext cx="312491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10B98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Engineer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33390" y="3385641"/>
            <a:ext cx="3124916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PDF Export, NLP Engine &amp; OSHA Compliance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33390" y="3934817"/>
            <a:ext cx="3124916" cy="10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fpdf2 professional report generation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 NLP safety classification engine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OSHA 1926 standards enforcement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Audit logging &amp; telemetry storage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5024" y="2417564"/>
            <a:ext cx="3486857" cy="300563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7012" y="2558058"/>
            <a:ext cx="242881" cy="2428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165995" y="3068241"/>
            <a:ext cx="312491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UI/UX Designer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8165995" y="3385641"/>
            <a:ext cx="3124916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Dark Theme, Interface Design &amp; Voice Integration</a:t>
            </a:r>
            <a:endParaRPr lang="en-US" sz="1250" dirty="0"/>
          </a:p>
        </p:txBody>
      </p:sp>
      <p:sp>
        <p:nvSpPr>
          <p:cNvPr id="19" name="Text 11"/>
          <p:cNvSpPr/>
          <p:nvPr/>
        </p:nvSpPr>
        <p:spPr>
          <a:xfrm>
            <a:off x="8165995" y="3934817"/>
            <a:ext cx="3124916" cy="10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21st.dev CSS glassmorphism styling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Dark zinc developer interface theme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 Speech API voice broadcasting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Audio klaxon alarm integration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291927"/>
            <a:ext cx="717135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1589" y="1337766"/>
            <a:ext cx="1143170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576388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Introduction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2205930"/>
            <a:ext cx="10752067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SiteVision AI is an autonomous construction site safety platform that combines computer vision, large language models, and real-time access control into a single unified web application. It eliminates manual safety monitoring bottlenecks while enforcing OSHA 1926 compliance at every entry point.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776637"/>
            <a:ext cx="382379" cy="3823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9814" y="3321546"/>
            <a:ext cx="52947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06B6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PPE Detection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9814" y="3616821"/>
            <a:ext cx="529477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Hardhats and high-visibility safety vests detected frame-by-frame via </a:t>
            </a: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YOLOv8 + OpenCV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sub-500ms latency. No compliance gap goes undetected.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106" y="2776637"/>
            <a:ext cx="382379" cy="3823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7106" y="3321546"/>
            <a:ext cx="52947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EF444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Zero-Tolerance DLP Rule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177106" y="3616821"/>
            <a:ext cx="529477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Smoking or open flame detection triggers </a:t>
            </a: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immediate ID suspension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gate lock. The DLP security rule enforces zero tolerance — no manual override required.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4301331"/>
            <a:ext cx="382379" cy="3823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9814" y="4846241"/>
            <a:ext cx="52947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10B98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Safety Officer Audit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19814" y="5141516"/>
            <a:ext cx="529477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Google Gemini LLM + Offline NLP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provides intelligent safety analysis and </a:t>
            </a: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Web Speech API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delivers hands-free voice broadcast alerts across the site.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106" y="4301331"/>
            <a:ext cx="382379" cy="3823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77106" y="4846241"/>
            <a:ext cx="529477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1-Click OSHA PDF Export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177106" y="5141516"/>
            <a:ext cx="529477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inspection telemetry compiled into a professional A4 OSHA incident report in </a:t>
            </a: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under 2 seconds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with embedded snapshots, timestamps, and sign-off.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242120"/>
            <a:ext cx="1599962" cy="191294"/>
          </a:xfrm>
          <a:prstGeom prst="roundRect">
            <a:avLst>
              <a:gd name="adj" fmla="val 7903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18" y="1287363"/>
            <a:ext cx="100705" cy="100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325" y="1279823"/>
            <a:ext cx="1907532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SAFETY CHALLENGES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719814" y="1468636"/>
            <a:ext cx="10752067" cy="35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23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057896"/>
            <a:ext cx="5222347" cy="10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218" y="2196505"/>
            <a:ext cx="4894338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1100" b="1" kern="0" spc="-11" dirty="0">
                <a:solidFill>
                  <a:srgbClr val="EF444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Fatal Cranial Risks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09218" y="2469852"/>
            <a:ext cx="4894338" cy="543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60%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head injuries caused by missing hardhats</a:t>
            </a:r>
            <a:endParaRPr lang="en-US" sz="950" dirty="0"/>
          </a:p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Low-visibility accidents in active machinery zones</a:t>
            </a:r>
            <a:endParaRPr lang="en-US" sz="950" dirty="0"/>
          </a:p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Severe OSHA penalties &amp; unplanned site downtime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3240187"/>
            <a:ext cx="5222347" cy="10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9218" y="3378795"/>
            <a:ext cx="4894338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r>
              <a:rPr lang="en-US" sz="1100" b="1" kern="0" spc="-11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Fire &amp; DLP Hazards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09218" y="3652143"/>
            <a:ext cx="4894338" cy="543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Unauthorized smoking near combustible materials</a:t>
            </a:r>
            <a:endParaRPr lang="en-US" sz="950" dirty="0"/>
          </a:p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real-time contraband detection capability</a:t>
            </a:r>
            <a:endParaRPr lang="en-US" sz="950" dirty="0"/>
          </a:p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badge suspension introduces critical delays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4422477"/>
            <a:ext cx="5222347" cy="1094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9218" y="4561086"/>
            <a:ext cx="4894338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🚧</a:t>
            </a:r>
            <a:r>
              <a:rPr lang="en-US" sz="1100" b="1" kern="0" spc="-11" dirty="0">
                <a:solidFill>
                  <a:srgbClr val="06B6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Manual Bottlenecks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909218" y="4834434"/>
            <a:ext cx="4894338" cy="543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Impossible to monitor hundreds of entry points simultaneously</a:t>
            </a:r>
            <a:endParaRPr lang="en-US" sz="950" dirty="0"/>
          </a:p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 logging is slow, error-prone, and non-auditable</a:t>
            </a:r>
            <a:endParaRPr lang="en-US" sz="950" dirty="0"/>
          </a:p>
          <a:p>
            <a:pPr marL="193040" indent="-193040" algn="l">
              <a:lnSpc>
                <a:spcPct val="106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immediate automated gate enforcement mechanism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7039196" y="2120801"/>
            <a:ext cx="3655623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kern="0" spc="-33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60%</a:t>
            </a:r>
            <a:endParaRPr lang="en-US" sz="3250" dirty="0"/>
          </a:p>
        </p:txBody>
      </p:sp>
      <p:sp>
        <p:nvSpPr>
          <p:cNvPr id="16" name="Text 10"/>
          <p:cNvSpPr/>
          <p:nvPr/>
        </p:nvSpPr>
        <p:spPr>
          <a:xfrm>
            <a:off x="6255883" y="2665512"/>
            <a:ext cx="522234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Head Injuries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255883" y="2932509"/>
            <a:ext cx="5222347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missing hardhats on active construction sites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7039196" y="3332361"/>
            <a:ext cx="3655623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kern="0" spc="-33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</a:t>
            </a:r>
            <a:endParaRPr lang="en-US" sz="3250" dirty="0"/>
          </a:p>
        </p:txBody>
      </p:sp>
      <p:sp>
        <p:nvSpPr>
          <p:cNvPr id="19" name="Text 13"/>
          <p:cNvSpPr/>
          <p:nvPr/>
        </p:nvSpPr>
        <p:spPr>
          <a:xfrm>
            <a:off x="6255883" y="3877072"/>
            <a:ext cx="522234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55883" y="4144070"/>
            <a:ext cx="5222347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existing solutions for contraband &amp; smoking near combustibles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039196" y="4543921"/>
            <a:ext cx="3655623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b="1" kern="0" spc="-33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100s</a:t>
            </a:r>
            <a:endParaRPr lang="en-US" sz="3250" dirty="0"/>
          </a:p>
        </p:txBody>
      </p:sp>
      <p:sp>
        <p:nvSpPr>
          <p:cNvPr id="22" name="Text 16"/>
          <p:cNvSpPr/>
          <p:nvPr/>
        </p:nvSpPr>
        <p:spPr>
          <a:xfrm>
            <a:off x="6255883" y="5088632"/>
            <a:ext cx="522234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Entry Points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55883" y="5355630"/>
            <a:ext cx="5222347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unmonitorable by manual safety officers alone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390848"/>
            <a:ext cx="1020737" cy="191294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318" y="1428552"/>
            <a:ext cx="1479315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GOALS &amp; OUTCOMES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19814" y="1617365"/>
            <a:ext cx="10752067" cy="35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23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19814" y="2195612"/>
            <a:ext cx="522234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Primary 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9814" y="2473623"/>
            <a:ext cx="283461" cy="28346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5623" y="2507952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14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1379" y="2516882"/>
            <a:ext cx="4850783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 100% PPE &amp; Contraband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1379" y="2783880"/>
            <a:ext cx="4850783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worker, every frame — no manual review required. YOLOv8 handles detection end-to-end.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9814" y="3281462"/>
            <a:ext cx="283461" cy="28346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5623" y="3315791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14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1379" y="3324721"/>
            <a:ext cx="4850783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Eliminate Manual Safety Officer Bottlenecks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1379" y="3591719"/>
            <a:ext cx="4850783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Safety Officer replaces repetitive monitoring tasks, freeing personnel for higher-value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9814" y="4089301"/>
            <a:ext cx="283461" cy="28346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5623" y="4123630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14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1379" y="4132560"/>
            <a:ext cx="4850783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Enforce Zero-Tolerance DLP Smoking Rules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379" y="4399558"/>
            <a:ext cx="4850783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Immediate, automated ID suspension on detection — no human delay in the enforcement loop.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9814" y="4897140"/>
            <a:ext cx="283461" cy="28346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5623" y="4931470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-14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1379" y="4940399"/>
            <a:ext cx="4850783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Generate OSHA-Compliant Audit Reports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379" y="5207397"/>
            <a:ext cx="4850783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1-click export of fully compliant OSHA 1926 documentation with embedded evidence.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5883" y="2195612"/>
            <a:ext cx="522234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5883" y="2473623"/>
            <a:ext cx="2567122" cy="840085"/>
          </a:xfrm>
          <a:prstGeom prst="roundRect">
            <a:avLst>
              <a:gd name="adj" fmla="val 224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81789" y="2599531"/>
            <a:ext cx="231531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&lt; 500ms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81789" y="2866529"/>
            <a:ext cx="231531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detection latency target per frame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11109" y="2473623"/>
            <a:ext cx="2567122" cy="840085"/>
          </a:xfrm>
          <a:prstGeom prst="roundRect">
            <a:avLst>
              <a:gd name="adj" fmla="val 224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37015" y="2599531"/>
            <a:ext cx="231531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99.9%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37015" y="2866529"/>
            <a:ext cx="2315311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Uptime target with offline NLP fallback active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55883" y="3401814"/>
            <a:ext cx="2567122" cy="840085"/>
          </a:xfrm>
          <a:prstGeom prst="roundRect">
            <a:avLst>
              <a:gd name="adj" fmla="val 224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81789" y="3527723"/>
            <a:ext cx="231531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&lt; 2 sec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1789" y="3794720"/>
            <a:ext cx="2315311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PDF export generation time for full audit report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11109" y="3401814"/>
            <a:ext cx="2567122" cy="840085"/>
          </a:xfrm>
          <a:prstGeom prst="roundRect">
            <a:avLst>
              <a:gd name="adj" fmla="val 224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37015" y="3527723"/>
            <a:ext cx="231531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37015" y="3794720"/>
            <a:ext cx="2315311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False negatives allowed on critical safety violations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845344"/>
            <a:ext cx="1177995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7761" y="899319"/>
            <a:ext cx="157168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190724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 Architecture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971873"/>
            <a:ext cx="10752067" cy="28450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9249" y="2933857"/>
            <a:ext cx="1625257" cy="264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INGESTION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49249" y="3281130"/>
            <a:ext cx="1625257" cy="46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Camera feed or image upload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411674" y="3041854"/>
            <a:ext cx="1625257" cy="264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DETECTION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3411674" y="3389127"/>
            <a:ext cx="1625257" cy="46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YOLOv8 + OpenCV real-time analysis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74099" y="2933857"/>
            <a:ext cx="1625257" cy="264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DLP AUDIT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74099" y="3281130"/>
            <a:ext cx="1625257" cy="46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Contraband and smoking scan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36524" y="3041854"/>
            <a:ext cx="1625257" cy="264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LLM OFFICER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136524" y="3389127"/>
            <a:ext cx="1625257" cy="46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NLP safety report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09296" y="2933857"/>
            <a:ext cx="1625256" cy="264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009296" y="3281130"/>
            <a:ext cx="1625256" cy="46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Gate lock, ID suspend, PDF export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19814" y="5019377"/>
            <a:ext cx="10752067" cy="993279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9814" y="5019377"/>
            <a:ext cx="3583989" cy="993279"/>
          </a:xfrm>
          <a:custGeom>
            <a:avLst/>
            <a:gdLst/>
            <a:ahLst/>
            <a:cxnLst/>
            <a:rect l="l" t="t" r="r" b="b"/>
            <a:pathLst>
              <a:path w="3583989" h="993279">
                <a:moveTo>
                  <a:pt x="22497" y="0"/>
                </a:moveTo>
                <a:lnTo>
                  <a:pt x="3583989" y="0"/>
                </a:lnTo>
                <a:lnTo>
                  <a:pt x="3583989" y="993279"/>
                </a:lnTo>
                <a:lnTo>
                  <a:pt x="22497" y="993279"/>
                </a:lnTo>
                <a:arcTo wR="22497" hR="22498" stAng="5400000" swAng="5400000"/>
                <a:lnTo>
                  <a:pt x="0" y="22498"/>
                </a:lnTo>
                <a:arcTo wR="22497" hR="22498" stAng="10800000" swAng="5400000"/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99693" y="5199261"/>
            <a:ext cx="322423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600" b="1" kern="0" spc="-1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SAFE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99693" y="5562798"/>
            <a:ext cx="322423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100% PPE Verified → Turnstile </a:t>
            </a: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UNLOCKED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03803" y="5019377"/>
            <a:ext cx="3583989" cy="99327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303803" y="5019377"/>
            <a:ext cx="25399" cy="993279"/>
          </a:xfrm>
          <a:prstGeom prst="roundRect">
            <a:avLst>
              <a:gd name="adj" fmla="val 50001"/>
            </a:avLst>
          </a:prstGeom>
          <a:solidFill>
            <a:srgbClr val="DB8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483682" y="5199261"/>
            <a:ext cx="322423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600" b="1" kern="0" spc="-1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WARNING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83682" y="5562798"/>
            <a:ext cx="322423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PPE Detected → Turnstile </a:t>
            </a: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HELD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87793" y="5019377"/>
            <a:ext cx="3584088" cy="993279"/>
          </a:xfrm>
          <a:custGeom>
            <a:avLst/>
            <a:gdLst/>
            <a:ahLst/>
            <a:cxnLst/>
            <a:rect l="l" t="t" r="r" b="b"/>
            <a:pathLst>
              <a:path w="3584088" h="993279">
                <a:moveTo>
                  <a:pt x="0" y="0"/>
                </a:moveTo>
                <a:lnTo>
                  <a:pt x="3561591" y="0"/>
                </a:lnTo>
                <a:arcTo wR="22497" hR="22498" stAng="16200000" swAng="5400000"/>
                <a:lnTo>
                  <a:pt x="3584088" y="970781"/>
                </a:lnTo>
                <a:arcTo wR="22497" hR="22498" stAng="0" swAng="5400000"/>
                <a:lnTo>
                  <a:pt x="0" y="993279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887793" y="5019377"/>
            <a:ext cx="25399" cy="993279"/>
          </a:xfrm>
          <a:prstGeom prst="roundRect">
            <a:avLst>
              <a:gd name="adj" fmla="val 50001"/>
            </a:avLst>
          </a:prstGeom>
          <a:solidFill>
            <a:srgbClr val="FF5D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67672" y="5199261"/>
            <a:ext cx="322433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600" b="1" kern="0" spc="-16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BLOCKED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67672" y="5562798"/>
            <a:ext cx="3224330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Smoking Detected → ID </a:t>
            </a: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SUSPENDED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074837"/>
            <a:ext cx="1485069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1589" y="1120676"/>
            <a:ext cx="191110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TECHNICAL FOUNDATION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359297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988840"/>
            <a:ext cx="382379" cy="3823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9814" y="2533749"/>
            <a:ext cx="347564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06B6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9814" y="2829024"/>
            <a:ext cx="3475645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Frontend &amp; UI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21st.dev CSS dark zinc theme with glassmorphism panels, responsive sidebar controls, and real-time camera feed rendering.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7975" y="1988840"/>
            <a:ext cx="382379" cy="3823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7975" y="2533749"/>
            <a:ext cx="347564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10B98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YOLOv8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357975" y="2829024"/>
            <a:ext cx="3475645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Object Detection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State-of-the-art single-shot detector for person identification, hardhat detection, high-vis vest classification, and contraband flagging.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6137" y="1988840"/>
            <a:ext cx="382379" cy="3823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96137" y="2533749"/>
            <a:ext cx="3475744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OpenCV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996137" y="2829024"/>
            <a:ext cx="3475744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Computer Vision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HSV color space segmentation for high-visibility vest detection, frame capture pipeline, and real-time bounding box overlay rendering.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4015978"/>
            <a:ext cx="382379" cy="38238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9814" y="4560888"/>
            <a:ext cx="347564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06B6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Gemini LLM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19814" y="4856163"/>
            <a:ext cx="3475645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Language Engine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Gemini for AI Safety Officer narrative generation, with offline NLP fallback ensuring </a:t>
            </a: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99.9% uptime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regardless of connectivity.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7975" y="4015978"/>
            <a:ext cx="382379" cy="38238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57975" y="4560888"/>
            <a:ext cx="347564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EF444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fpdf2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357975" y="4856163"/>
            <a:ext cx="3475645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PDF Export Engine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 A4 OSHA 1926 compliant audit certificate generation with embedded snapshots, worker metadata, zone data, and timestamps.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15144"/>
            <a:ext cx="1219864" cy="191294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318" y="552847"/>
            <a:ext cx="1678442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INNOVATIVE EXTENSIONS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19814" y="741660"/>
            <a:ext cx="10752067" cy="35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23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 &amp; Capabilities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19814" y="1319907"/>
            <a:ext cx="5222347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🔊</a:t>
            </a:r>
            <a:r>
              <a:rPr lang="en-US" sz="1100" b="1" kern="0" spc="-1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Live Web Speech Audio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1604218"/>
            <a:ext cx="188908" cy="1889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180" y="1604268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browser </a:t>
            </a: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Web Speech API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 external dependencies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2158454"/>
            <a:ext cx="188908" cy="1889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9180" y="2158504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Hands-free vocal broadcasting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site-wide safety announcements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2712690"/>
            <a:ext cx="188908" cy="1889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9180" y="2712740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</a:t>
            </a: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klaxon alarm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triggered on any critical violation event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3266926"/>
            <a:ext cx="188908" cy="1889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29180" y="3266976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Fully toggleable from the sidebar — </a:t>
            </a: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operator-controlled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all times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719814" y="3775472"/>
            <a:ext cx="5222347" cy="127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719814" y="3918744"/>
            <a:ext cx="5222347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100" b="1" kern="0" spc="-1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1-Click OSHA PDF Export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4203055"/>
            <a:ext cx="188908" cy="1889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9180" y="4203105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 </a:t>
            </a: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A4 audit certificates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generated in under 2 seconds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4757291"/>
            <a:ext cx="188908" cy="1889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29180" y="4757341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Worker ID, Zone, and Timestamp </a:t>
            </a: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metadata embedded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incident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5311527"/>
            <a:ext cx="188908" cy="1889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29180" y="5311577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High-resolution camera snapshots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embedded as visual evidence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041" y="5865763"/>
            <a:ext cx="188908" cy="1889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29180" y="5865813"/>
            <a:ext cx="481298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</a:t>
            </a:r>
            <a:r>
              <a:rPr lang="en-US" sz="9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OSHA 1926 compliant sign-off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block for legal defensibility</a:t>
            </a:r>
            <a:endParaRPr lang="en-US" sz="950" dirty="0"/>
          </a:p>
        </p:txBody>
      </p:sp>
      <p:sp>
        <p:nvSpPr>
          <p:cNvPr id="24" name="Shape 14"/>
          <p:cNvSpPr/>
          <p:nvPr/>
        </p:nvSpPr>
        <p:spPr>
          <a:xfrm>
            <a:off x="6165100" y="1231801"/>
            <a:ext cx="5403913" cy="5111055"/>
          </a:xfrm>
          <a:prstGeom prst="roundRect">
            <a:avLst>
              <a:gd name="adj" fmla="val 37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/>
          <p:nvPr/>
        </p:nvSpPr>
        <p:spPr>
          <a:xfrm>
            <a:off x="6291006" y="1319907"/>
            <a:ext cx="5152102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These Features Matter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6291006" y="1586905"/>
            <a:ext cx="5152102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safety systems generate reports </a:t>
            </a:r>
            <a:r>
              <a:rPr lang="en-US" sz="950" i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after</a:t>
            </a: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incidents. SiteVision AI broadcasts alerts and locks gates </a:t>
            </a:r>
            <a:r>
              <a:rPr lang="en-US" sz="9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 the same detection cycle</a:t>
            </a: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closing the enforcement loop in real time.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6291006" y="2038747"/>
            <a:ext cx="5152102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8"/>
          <p:cNvSpPr/>
          <p:nvPr/>
        </p:nvSpPr>
        <p:spPr>
          <a:xfrm>
            <a:off x="6291006" y="2182019"/>
            <a:ext cx="5152102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 broadcasting eliminates the need for visual attention from workers — safety messages reach the entire site </a:t>
            </a:r>
            <a:r>
              <a:rPr lang="en-US" sz="9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without requiring workers to check a screen</a:t>
            </a: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6291006" y="2633861"/>
            <a:ext cx="5152102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6291006" y="2777133"/>
            <a:ext cx="5152102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OSHA 1926 compliant PDF exports mean legal documentation is </a:t>
            </a:r>
            <a:r>
              <a:rPr lang="en-US" sz="9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always ready</a:t>
            </a: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 post-incident scramble, no missing evidence, no compliance gap.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039316"/>
            <a:ext cx="1022225" cy="20508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0774" y="1079798"/>
            <a:ext cx="146988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SHOWCASE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9814" y="1284883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24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Gallery &amp; Demo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820168"/>
            <a:ext cx="5325433" cy="194865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1280" y="1940421"/>
            <a:ext cx="202401" cy="2024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3798" y="2345333"/>
            <a:ext cx="501746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🎥</a:t>
            </a:r>
            <a:r>
              <a:rPr lang="en-US" sz="1200" b="1" kern="0" spc="-12" dirty="0">
                <a:solidFill>
                  <a:srgbClr val="06B6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Live Demo Interface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73798" y="2597745"/>
            <a:ext cx="501746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Dark zinc UI with real-time camera feed, YOLOv8 PPE detection overlays, and cyan/green/red status indicators updating per frame.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73798" y="3012678"/>
            <a:ext cx="5017466" cy="60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Glassmorphism panel design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Sidebar control toggles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detection confidence scores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448" y="1820168"/>
            <a:ext cx="5325433" cy="194865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7914" y="1940421"/>
            <a:ext cx="202401" cy="2024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0431" y="2345333"/>
            <a:ext cx="501746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00" b="1" kern="0" spc="-12" dirty="0">
                <a:solidFill>
                  <a:srgbClr val="10B98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Safety Dashboard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300431" y="2597745"/>
            <a:ext cx="501746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Multi-worker tracking across zones, compliance trend visualization, and incident heatmaps for site managers.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6300431" y="3012678"/>
            <a:ext cx="5017466" cy="60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Worker ID tracking table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Hourly compliance trends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Zone-level incident heatmap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870027"/>
            <a:ext cx="5325433" cy="1948656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1280" y="3990280"/>
            <a:ext cx="202401" cy="20240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73798" y="4395192"/>
            <a:ext cx="501746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1200" b="1" kern="0" spc="-12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Detection Visualization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873798" y="4647605"/>
            <a:ext cx="501746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YOLOv8 bounding boxes rendered per detection class, HSV color analysis overlay for vest verification, and contraband flagging annotations.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873798" y="5062537"/>
            <a:ext cx="5017466" cy="60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Per-class color-coded boxes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HSV segmentation masks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Contraband alert callouts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448" y="3870027"/>
            <a:ext cx="5325433" cy="1948656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07914" y="3990280"/>
            <a:ext cx="202401" cy="20240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300431" y="4395192"/>
            <a:ext cx="501746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200" b="1" kern="0" spc="-12" dirty="0">
                <a:solidFill>
                  <a:srgbClr val="EF444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OSHA PDF Report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6300431" y="4647605"/>
            <a:ext cx="501746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Generated audit certificates with embedded visual evidence, incident timestamps, worker metadata, zone data, and OSHA 1926 compliant sign-off blocks.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6300431" y="5062537"/>
            <a:ext cx="5017466" cy="60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Embedded camera snapshot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incident telemetry</a:t>
            </a:r>
            <a:endParaRPr lang="en-US" sz="1050" dirty="0"/>
          </a:p>
          <a:p>
            <a:pPr marL="213360" indent="-213360" algn="l">
              <a:lnSpc>
                <a:spcPct val="109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Legal sign-off section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36973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 &amp; Feedback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2538016"/>
            <a:ext cx="10752067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kern="0" spc="-4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We'd Love Your Input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9814" y="3391595"/>
            <a:ext cx="5303110" cy="1734641"/>
          </a:xfrm>
          <a:prstGeom prst="roundRect">
            <a:avLst>
              <a:gd name="adj" fmla="val 140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1735" y="3553520"/>
            <a:ext cx="485862" cy="4858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379" y="3687068"/>
            <a:ext cx="218573" cy="2185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1735" y="4185146"/>
            <a:ext cx="4979268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📧</a:t>
            </a:r>
            <a:r>
              <a:rPr lang="en-US" sz="1400" b="1" kern="0" spc="-14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Questions or Demo Request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1735" y="4502547"/>
            <a:ext cx="4979268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 our safety engineering team to schedule a live walkthrough of the SiteVision AI platform.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68672" y="3391595"/>
            <a:ext cx="5303209" cy="1734641"/>
          </a:xfrm>
          <a:prstGeom prst="roundRect">
            <a:avLst>
              <a:gd name="adj" fmla="val 140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30593" y="3553520"/>
            <a:ext cx="485862" cy="4858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4238" y="3687068"/>
            <a:ext cx="218573" cy="2185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0593" y="4185146"/>
            <a:ext cx="4979367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400" b="1" kern="0" spc="-14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Feature Feedback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30593" y="4502547"/>
            <a:ext cx="4979367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your construction site safety priorities — help us shape the next iteration of detection rules and compliance modules.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15022" y="5290145"/>
            <a:ext cx="11361652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SiteVision AI</a:t>
            </a: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</a:t>
            </a:r>
            <a:r>
              <a:rPr lang="en-US" sz="1250" dirty="0">
                <a:solidFill>
                  <a:srgbClr val="06B6D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Autonomous Construction Safety &amp; DLP Access Control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1115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</vt:lpstr>
      <vt:lpstr>Arial</vt:lpstr>
      <vt:lpstr>Source Sans 3 Bold</vt:lpstr>
      <vt:lpstr>Montserrat Bold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Janvi Tikyani</cp:lastModifiedBy>
  <cp:revision>1</cp:revision>
  <dcterms:created xsi:type="dcterms:W3CDTF">2026-09-03T07:52:46Z</dcterms:created>
  <dcterms:modified xsi:type="dcterms:W3CDTF">2026-09-03T09:10:36Z</dcterms:modified>
</cp:coreProperties>
</file>